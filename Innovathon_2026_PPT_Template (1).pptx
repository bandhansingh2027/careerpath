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Arial Bold" panose="020B0704020202020204" pitchFamily="34" charset="0"/>
      <p:regular r:id="rId9"/>
      <p:bold r:id="rId10"/>
    </p:embeddedFont>
    <p:embeddedFont>
      <p:font typeface="Arimo" panose="020B0604020202020204" charset="0"/>
      <p:regular r:id="rId11"/>
    </p:embeddedFont>
    <p:embeddedFont>
      <p:font typeface="Arimo Bold" panose="020B0604020202020204" charset="0"/>
      <p:regular r:id="rId12"/>
    </p:embeddedFont>
    <p:embeddedFont>
      <p:font typeface="Garamond Bold" panose="02020804030307010803" pitchFamily="18" charset="0"/>
      <p:regular r:id="rId13"/>
      <p:bold r:id="rId14"/>
    </p:embeddedFont>
    <p:embeddedFont>
      <p:font typeface="Times New Roman Bold" panose="02020803070505020304" pitchFamily="18" charset="0"/>
      <p:regular r:id="rId15"/>
      <p:bold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16.04.2026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9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950769" y="1136590"/>
            <a:ext cx="10755831" cy="22662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999"/>
              </a:lnSpc>
            </a:pPr>
            <a:endParaRPr dirty="0"/>
          </a:p>
          <a:p>
            <a:pPr algn="ctr">
              <a:lnSpc>
                <a:spcPts val="5999"/>
              </a:lnSpc>
            </a:pPr>
            <a:r>
              <a:rPr lang="en-US" sz="4999" b="1" dirty="0">
                <a:solidFill>
                  <a:srgbClr val="FF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CAREER PATH RECOMMENDER</a:t>
            </a:r>
          </a:p>
          <a:p>
            <a:pPr algn="ctr">
              <a:lnSpc>
                <a:spcPts val="5999"/>
              </a:lnSpc>
            </a:pPr>
            <a:r>
              <a:rPr lang="en-US" sz="3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FOR TIER 2/3 STUDENTS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4336041" y="9449"/>
            <a:ext cx="9615919" cy="1818837"/>
            <a:chOff x="0" y="0"/>
            <a:chExt cx="12821225" cy="242511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821225" cy="2425116"/>
            </a:xfrm>
            <a:custGeom>
              <a:avLst/>
              <a:gdLst/>
              <a:ahLst/>
              <a:cxnLst/>
              <a:rect l="l" t="t" r="r" b="b"/>
              <a:pathLst>
                <a:path w="12821225" h="2425116">
                  <a:moveTo>
                    <a:pt x="0" y="0"/>
                  </a:moveTo>
                  <a:lnTo>
                    <a:pt x="12821225" y="0"/>
                  </a:lnTo>
                  <a:lnTo>
                    <a:pt x="12821225" y="2425116"/>
                  </a:lnTo>
                  <a:lnTo>
                    <a:pt x="0" y="24251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0907" r="-61656" b="-152152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-9525"/>
              <a:ext cx="12821225" cy="24346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999"/>
                </a:lnSpc>
              </a:pPr>
              <a:r>
                <a:rPr lang="en-US" sz="7499" b="1" u="sng">
                  <a:solidFill>
                    <a:srgbClr val="0070C0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INNOVATHON 2026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658316" y="307000"/>
            <a:ext cx="2629684" cy="1443400"/>
            <a:chOff x="0" y="0"/>
            <a:chExt cx="4418241" cy="242511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418203" cy="2425116"/>
            </a:xfrm>
            <a:custGeom>
              <a:avLst/>
              <a:gdLst/>
              <a:ahLst/>
              <a:cxnLst/>
              <a:rect l="l" t="t" r="r" b="b"/>
              <a:pathLst>
                <a:path w="4418203" h="2425116">
                  <a:moveTo>
                    <a:pt x="0" y="0"/>
                  </a:moveTo>
                  <a:lnTo>
                    <a:pt x="4418203" y="0"/>
                  </a:lnTo>
                  <a:lnTo>
                    <a:pt x="4418203" y="2425116"/>
                  </a:lnTo>
                  <a:lnTo>
                    <a:pt x="0" y="24251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594" r="-2594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0" y="42959"/>
            <a:ext cx="2244413" cy="2244413"/>
          </a:xfrm>
          <a:custGeom>
            <a:avLst/>
            <a:gdLst/>
            <a:ahLst/>
            <a:cxnLst/>
            <a:rect l="l" t="t" r="r" b="b"/>
            <a:pathLst>
              <a:path w="2244413" h="2244413">
                <a:moveTo>
                  <a:pt x="0" y="0"/>
                </a:moveTo>
                <a:lnTo>
                  <a:pt x="2244413" y="0"/>
                </a:lnTo>
                <a:lnTo>
                  <a:pt x="2244413" y="2244413"/>
                </a:lnTo>
                <a:lnTo>
                  <a:pt x="0" y="22444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730048" y="3198188"/>
            <a:ext cx="17176951" cy="58951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endParaRPr dirty="0"/>
          </a:p>
          <a:p>
            <a:pPr marL="651510" lvl="1" indent="-325755" algn="just">
              <a:lnSpc>
                <a:spcPts val="8640"/>
              </a:lnSpc>
              <a:buFont typeface="Arial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</a:t>
            </a:r>
            <a:r>
              <a:rPr lang="en-US" sz="3600" b="1" dirty="0">
                <a:solidFill>
                  <a:srgbClr val="00B0F0"/>
                </a:solidFill>
                <a:latin typeface="Arial Bold"/>
                <a:ea typeface="Arial Bold"/>
                <a:cs typeface="Arial Bold"/>
                <a:sym typeface="Arial Bold"/>
              </a:rPr>
              <a:t>PS-A05</a:t>
            </a:r>
            <a:r>
              <a:rPr lang="en-US" sz="36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</a:p>
          <a:p>
            <a:pPr marL="651510" lvl="1" indent="-325755" algn="just">
              <a:lnSpc>
                <a:spcPts val="8640"/>
              </a:lnSpc>
              <a:buFont typeface="Arial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Title- </a:t>
            </a:r>
            <a:r>
              <a:rPr lang="en-US" sz="3600" b="1" dirty="0">
                <a:solidFill>
                  <a:srgbClr val="00B0F0"/>
                </a:solidFill>
                <a:latin typeface="Arial Bold"/>
                <a:ea typeface="Arial Bold"/>
                <a:cs typeface="Arial Bold"/>
                <a:sym typeface="Arial Bold"/>
              </a:rPr>
              <a:t>Career Path Recommender for Tier 2/3 Students</a:t>
            </a:r>
          </a:p>
          <a:p>
            <a:pPr marL="651510" lvl="1" indent="-325755" algn="just">
              <a:lnSpc>
                <a:spcPts val="8640"/>
              </a:lnSpc>
              <a:buFont typeface="Arial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 </a:t>
            </a:r>
            <a:r>
              <a:rPr lang="en-US" sz="3600" b="1" dirty="0">
                <a:solidFill>
                  <a:srgbClr val="00B0F0"/>
                </a:solidFill>
                <a:latin typeface="Arial Bold"/>
                <a:ea typeface="Arial Bold"/>
                <a:cs typeface="Arial Bold"/>
                <a:sym typeface="Arial Bold"/>
              </a:rPr>
              <a:t>AI/ML Integration</a:t>
            </a:r>
          </a:p>
          <a:p>
            <a:pPr marL="651510" lvl="1" indent="-325755" algn="just">
              <a:lnSpc>
                <a:spcPts val="8640"/>
              </a:lnSpc>
              <a:buFont typeface="Arial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ID- </a:t>
            </a:r>
            <a:r>
              <a:rPr lang="en-US" sz="3600" b="1" dirty="0">
                <a:solidFill>
                  <a:srgbClr val="00B0F0"/>
                </a:solidFill>
                <a:latin typeface="Arial Bold"/>
                <a:ea typeface="Arial Bold"/>
                <a:cs typeface="Arial Bold"/>
                <a:sym typeface="Arial Bold"/>
              </a:rPr>
              <a:t>RRGI 100</a:t>
            </a:r>
          </a:p>
          <a:p>
            <a:pPr marL="651510" lvl="1" indent="-325755" algn="just">
              <a:lnSpc>
                <a:spcPts val="8640"/>
              </a:lnSpc>
              <a:buFont typeface="Arial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 (Registered on Google Form) – </a:t>
            </a:r>
            <a:r>
              <a:rPr lang="en-US" sz="3600" b="1" dirty="0">
                <a:solidFill>
                  <a:srgbClr val="00B0F0"/>
                </a:solidFill>
                <a:latin typeface="Arial Bold"/>
                <a:ea typeface="Arial Bold"/>
                <a:cs typeface="Arial Bold"/>
                <a:sym typeface="Arial Bold"/>
              </a:rPr>
              <a:t>CODE TITANS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5411863" y="9534525"/>
            <a:ext cx="7464274" cy="752475"/>
            <a:chOff x="0" y="0"/>
            <a:chExt cx="7033368" cy="70903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033367" cy="709035"/>
            </a:xfrm>
            <a:custGeom>
              <a:avLst/>
              <a:gdLst/>
              <a:ahLst/>
              <a:cxnLst/>
              <a:rect l="l" t="t" r="r" b="b"/>
              <a:pathLst>
                <a:path w="7033367" h="709035">
                  <a:moveTo>
                    <a:pt x="0" y="0"/>
                  </a:moveTo>
                  <a:lnTo>
                    <a:pt x="7033367" y="0"/>
                  </a:lnTo>
                  <a:lnTo>
                    <a:pt x="7033367" y="709035"/>
                  </a:lnTo>
                  <a:lnTo>
                    <a:pt x="0" y="70903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4602" r="8891" b="-127594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7033368" cy="7185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@Innovathon 2026 Idea Submission- HACKLANCE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572000" y="1229314"/>
            <a:ext cx="8510599" cy="8151711"/>
            <a:chOff x="-22570734" y="5297681"/>
            <a:chExt cx="17740756" cy="16445683"/>
          </a:xfrm>
        </p:grpSpPr>
        <p:sp>
          <p:nvSpPr>
            <p:cNvPr id="16" name="Freeform 16"/>
            <p:cNvSpPr/>
            <p:nvPr/>
          </p:nvSpPr>
          <p:spPr>
            <a:xfrm>
              <a:off x="-22570734" y="5297681"/>
              <a:ext cx="17740756" cy="16445683"/>
            </a:xfrm>
            <a:custGeom>
              <a:avLst/>
              <a:gdLst/>
              <a:ahLst/>
              <a:cxnLst/>
              <a:rect l="l" t="t" r="r" b="b"/>
              <a:pathLst>
                <a:path w="17740756" h="16445683">
                  <a:moveTo>
                    <a:pt x="0" y="0"/>
                  </a:moveTo>
                  <a:lnTo>
                    <a:pt x="17740756" y="0"/>
                  </a:lnTo>
                  <a:lnTo>
                    <a:pt x="17740756" y="16445683"/>
                  </a:lnTo>
                  <a:lnTo>
                    <a:pt x="0" y="164456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12000"/>
              </a:blip>
              <a:stretch>
                <a:fillRect t="-3937" b="-3937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101243" y="-439958"/>
            <a:ext cx="17242071" cy="3037595"/>
            <a:chOff x="0" y="-28575"/>
            <a:chExt cx="26863599" cy="4732652"/>
          </a:xfrm>
        </p:grpSpPr>
        <p:sp>
          <p:nvSpPr>
            <p:cNvPr id="5" name="Freeform 5"/>
            <p:cNvSpPr/>
            <p:nvPr/>
          </p:nvSpPr>
          <p:spPr>
            <a:xfrm>
              <a:off x="4917999" y="1582756"/>
              <a:ext cx="21945600" cy="3121321"/>
            </a:xfrm>
            <a:custGeom>
              <a:avLst/>
              <a:gdLst/>
              <a:ahLst/>
              <a:cxnLst/>
              <a:rect l="l" t="t" r="r" b="b"/>
              <a:pathLst>
                <a:path w="21945600" h="3121321">
                  <a:moveTo>
                    <a:pt x="0" y="0"/>
                  </a:moveTo>
                  <a:lnTo>
                    <a:pt x="21945600" y="0"/>
                  </a:lnTo>
                  <a:lnTo>
                    <a:pt x="21945600" y="3121321"/>
                  </a:lnTo>
                  <a:lnTo>
                    <a:pt x="0" y="312132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0377" b="-7361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31498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endParaRPr dirty="0"/>
            </a:p>
            <a:p>
              <a:pPr algn="ctr">
                <a:lnSpc>
                  <a:spcPts val="6480"/>
                </a:lnSpc>
              </a:pPr>
              <a:r>
                <a:rPr lang="en-US" sz="5400" b="1" dirty="0">
                  <a:solidFill>
                    <a:srgbClr val="FF0000"/>
                  </a:solidFill>
                </a:rPr>
                <a:t>CAREER PATH RECOMMENDER</a:t>
              </a:r>
            </a:p>
            <a:p>
              <a:pPr algn="ctr">
                <a:lnSpc>
                  <a:spcPts val="6480"/>
                </a:lnSpc>
              </a:pPr>
              <a:r>
                <a:rPr lang="en-US" sz="5400" b="1" dirty="0"/>
                <a:t> </a:t>
              </a:r>
              <a:r>
                <a:rPr lang="en-US" sz="3600" b="1" dirty="0"/>
                <a:t>for Tier 2/3 Students</a:t>
              </a:r>
              <a:endParaRPr lang="en-US" sz="36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72390" y="2525626"/>
            <a:ext cx="18105120" cy="597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51547" lvl="1" indent="-571500" algn="l">
              <a:lnSpc>
                <a:spcPts val="5040"/>
              </a:lnSpc>
              <a:buFont typeface="Wingdings" panose="05000000000000000000" pitchFamily="2" charset="2"/>
              <a:buChar char="q"/>
            </a:pPr>
            <a:r>
              <a:rPr lang="en-US" sz="3600" b="1" u="sng" dirty="0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Proposed Solution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411863" y="9534525"/>
            <a:ext cx="7464274" cy="752475"/>
            <a:chOff x="0" y="0"/>
            <a:chExt cx="7033368" cy="70903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033367" cy="709035"/>
            </a:xfrm>
            <a:custGeom>
              <a:avLst/>
              <a:gdLst/>
              <a:ahLst/>
              <a:cxnLst/>
              <a:rect l="l" t="t" r="r" b="b"/>
              <a:pathLst>
                <a:path w="7033367" h="709035">
                  <a:moveTo>
                    <a:pt x="0" y="0"/>
                  </a:moveTo>
                  <a:lnTo>
                    <a:pt x="7033367" y="0"/>
                  </a:lnTo>
                  <a:lnTo>
                    <a:pt x="7033367" y="709035"/>
                  </a:lnTo>
                  <a:lnTo>
                    <a:pt x="0" y="7090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4602" r="8891" b="-127594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7033368" cy="7185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@Innovathon 2026 Idea Submission- HACKLANCE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5658316" y="307000"/>
            <a:ext cx="2629684" cy="1443400"/>
            <a:chOff x="0" y="0"/>
            <a:chExt cx="4418241" cy="242511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418203" cy="2425116"/>
            </a:xfrm>
            <a:custGeom>
              <a:avLst/>
              <a:gdLst/>
              <a:ahLst/>
              <a:cxnLst/>
              <a:rect l="l" t="t" r="r" b="b"/>
              <a:pathLst>
                <a:path w="4418203" h="2425116">
                  <a:moveTo>
                    <a:pt x="0" y="0"/>
                  </a:moveTo>
                  <a:lnTo>
                    <a:pt x="4418203" y="0"/>
                  </a:lnTo>
                  <a:lnTo>
                    <a:pt x="4418203" y="2425116"/>
                  </a:lnTo>
                  <a:lnTo>
                    <a:pt x="0" y="24251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594" r="-2594"/>
              </a:stretch>
            </a:blipFill>
          </p:spPr>
        </p:sp>
      </p:grpSp>
      <p:sp>
        <p:nvSpPr>
          <p:cNvPr id="16" name="Freeform 16"/>
          <p:cNvSpPr/>
          <p:nvPr/>
        </p:nvSpPr>
        <p:spPr>
          <a:xfrm>
            <a:off x="0" y="42959"/>
            <a:ext cx="2244413" cy="2244413"/>
          </a:xfrm>
          <a:custGeom>
            <a:avLst/>
            <a:gdLst/>
            <a:ahLst/>
            <a:cxnLst/>
            <a:rect l="l" t="t" r="r" b="b"/>
            <a:pathLst>
              <a:path w="2244413" h="2244413">
                <a:moveTo>
                  <a:pt x="0" y="0"/>
                </a:moveTo>
                <a:lnTo>
                  <a:pt x="2244413" y="0"/>
                </a:lnTo>
                <a:lnTo>
                  <a:pt x="2244413" y="2244413"/>
                </a:lnTo>
                <a:lnTo>
                  <a:pt x="0" y="22444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3338957" y="693135"/>
            <a:ext cx="8793646" cy="8151711"/>
            <a:chOff x="-9747257" y="-2884379"/>
            <a:chExt cx="17740756" cy="16445683"/>
          </a:xfrm>
        </p:grpSpPr>
        <p:sp>
          <p:nvSpPr>
            <p:cNvPr id="18" name="Freeform 18"/>
            <p:cNvSpPr/>
            <p:nvPr/>
          </p:nvSpPr>
          <p:spPr>
            <a:xfrm>
              <a:off x="-9747257" y="-2884379"/>
              <a:ext cx="17740756" cy="16445683"/>
            </a:xfrm>
            <a:custGeom>
              <a:avLst/>
              <a:gdLst/>
              <a:ahLst/>
              <a:cxnLst/>
              <a:rect l="l" t="t" r="r" b="b"/>
              <a:pathLst>
                <a:path w="17740756" h="16445683">
                  <a:moveTo>
                    <a:pt x="0" y="0"/>
                  </a:moveTo>
                  <a:lnTo>
                    <a:pt x="17740756" y="0"/>
                  </a:lnTo>
                  <a:lnTo>
                    <a:pt x="17740756" y="16445683"/>
                  </a:lnTo>
                  <a:lnTo>
                    <a:pt x="0" y="164456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12000"/>
              </a:blip>
              <a:stretch>
                <a:fillRect t="-3937" b="-3937"/>
              </a:stretch>
            </a:blipFill>
          </p:spPr>
        </p:sp>
      </p:grpSp>
      <p:sp>
        <p:nvSpPr>
          <p:cNvPr id="19" name="Rectangle 1">
            <a:extLst>
              <a:ext uri="{FF2B5EF4-FFF2-40B4-BE49-F238E27FC236}">
                <a16:creationId xmlns:a16="http://schemas.microsoft.com/office/drawing/2014/main" id="{B160615C-80D7-A5EA-D31A-5303C28C85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271" y="3297665"/>
            <a:ext cx="12649200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AI-based system to recommend </a:t>
            </a: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3–5 career paths 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Takes input: interest, skills, budget, location 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weighted scoring to match careers 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skills, courses &amp; roadmap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006BFE8-18BF-76B9-4F95-041D339927E5}"/>
              </a:ext>
            </a:extLst>
          </p:cNvPr>
          <p:cNvSpPr txBox="1"/>
          <p:nvPr/>
        </p:nvSpPr>
        <p:spPr>
          <a:xfrm>
            <a:off x="207271" y="5359768"/>
            <a:ext cx="985112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/>
              <a:t>✅ How it Addresses the Problem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n-US" sz="3200" dirty="0"/>
              <a:t>Solves the lack of career guidance in Tier 2/3 cities 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n-US" sz="3200" dirty="0"/>
              <a:t>Gives </a:t>
            </a:r>
            <a:r>
              <a:rPr lang="en-IN" sz="3200" dirty="0"/>
              <a:t>customised</a:t>
            </a:r>
            <a:r>
              <a:rPr lang="en-US" sz="3200" dirty="0"/>
              <a:t> recommendations 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n-US" sz="3200" dirty="0"/>
              <a:t>Considers real-life constraints (money, access, skills) 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n-US" sz="3200" dirty="0"/>
              <a:t>Reduces wrong career choices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94C9431-C8BF-8060-6560-B3806B79C148}"/>
              </a:ext>
            </a:extLst>
          </p:cNvPr>
          <p:cNvSpPr txBox="1"/>
          <p:nvPr/>
        </p:nvSpPr>
        <p:spPr>
          <a:xfrm>
            <a:off x="207270" y="7789642"/>
            <a:ext cx="985112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/>
              <a:t>✅ Innovation &amp; Uniqueness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dirty="0"/>
              <a:t>  Reality Score (feasibility of career) 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dirty="0"/>
              <a:t>  Future Simulation (6 months → 2 years growth)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C677B83-229B-CCAD-4E97-EED14E096A1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4415" y="1442153"/>
            <a:ext cx="6372719" cy="707411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150020"/>
            <a:ext cx="16459200" cy="1735930"/>
            <a:chOff x="0" y="-28573"/>
            <a:chExt cx="21945600" cy="231457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3"/>
              <a:ext cx="21945600" cy="19245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dirty="0"/>
                <a:t> </a:t>
              </a:r>
              <a:r>
                <a:rPr lang="en-US" sz="5400" b="1" dirty="0">
                  <a:solidFill>
                    <a:srgbClr val="FF0000"/>
                  </a:solidFill>
                </a:rPr>
                <a:t>CAREER PATH RECOMMENDER</a:t>
              </a:r>
            </a:p>
            <a:p>
              <a:pPr algn="ctr">
                <a:lnSpc>
                  <a:spcPts val="6480"/>
                </a:lnSpc>
              </a:pPr>
              <a:r>
                <a:rPr lang="en-US" sz="5400" b="1" dirty="0"/>
                <a:t> </a:t>
              </a:r>
              <a:r>
                <a:rPr lang="en-US" sz="3600" b="1" dirty="0"/>
                <a:t>for Tier 2/3 Students</a:t>
              </a:r>
              <a:endParaRPr lang="en-US" sz="36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554541" y="1504846"/>
            <a:ext cx="8793646" cy="8151787"/>
            <a:chOff x="0" y="0"/>
            <a:chExt cx="17740756" cy="1644583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740756" cy="16445683"/>
            </a:xfrm>
            <a:custGeom>
              <a:avLst/>
              <a:gdLst/>
              <a:ahLst/>
              <a:cxnLst/>
              <a:rect l="l" t="t" r="r" b="b"/>
              <a:pathLst>
                <a:path w="17740756" h="16445683">
                  <a:moveTo>
                    <a:pt x="0" y="0"/>
                  </a:moveTo>
                  <a:lnTo>
                    <a:pt x="17740756" y="0"/>
                  </a:lnTo>
                  <a:lnTo>
                    <a:pt x="17740756" y="16445683"/>
                  </a:lnTo>
                  <a:lnTo>
                    <a:pt x="0" y="164456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2000"/>
              </a:blip>
              <a:stretch>
                <a:fillRect t="-3937" b="-3937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5658316" y="307000"/>
            <a:ext cx="2629684" cy="1443400"/>
            <a:chOff x="0" y="0"/>
            <a:chExt cx="4418241" cy="242511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18203" cy="2425116"/>
            </a:xfrm>
            <a:custGeom>
              <a:avLst/>
              <a:gdLst/>
              <a:ahLst/>
              <a:cxnLst/>
              <a:rect l="l" t="t" r="r" b="b"/>
              <a:pathLst>
                <a:path w="4418203" h="2425116">
                  <a:moveTo>
                    <a:pt x="0" y="0"/>
                  </a:moveTo>
                  <a:lnTo>
                    <a:pt x="4418203" y="0"/>
                  </a:lnTo>
                  <a:lnTo>
                    <a:pt x="4418203" y="2425116"/>
                  </a:lnTo>
                  <a:lnTo>
                    <a:pt x="0" y="24251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594" r="-2594"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0" y="42959"/>
            <a:ext cx="2244413" cy="2244413"/>
          </a:xfrm>
          <a:custGeom>
            <a:avLst/>
            <a:gdLst/>
            <a:ahLst/>
            <a:cxnLst/>
            <a:rect l="l" t="t" r="r" b="b"/>
            <a:pathLst>
              <a:path w="2244413" h="2244413">
                <a:moveTo>
                  <a:pt x="0" y="0"/>
                </a:moveTo>
                <a:lnTo>
                  <a:pt x="2244413" y="0"/>
                </a:lnTo>
                <a:lnTo>
                  <a:pt x="2244413" y="2244413"/>
                </a:lnTo>
                <a:lnTo>
                  <a:pt x="0" y="22444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5411863" y="9534525"/>
            <a:ext cx="7464274" cy="752475"/>
            <a:chOff x="0" y="0"/>
            <a:chExt cx="7033368" cy="70903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033367" cy="709035"/>
            </a:xfrm>
            <a:custGeom>
              <a:avLst/>
              <a:gdLst/>
              <a:ahLst/>
              <a:cxnLst/>
              <a:rect l="l" t="t" r="r" b="b"/>
              <a:pathLst>
                <a:path w="7033367" h="709035">
                  <a:moveTo>
                    <a:pt x="0" y="0"/>
                  </a:moveTo>
                  <a:lnTo>
                    <a:pt x="7033367" y="0"/>
                  </a:lnTo>
                  <a:lnTo>
                    <a:pt x="7033367" y="709035"/>
                  </a:lnTo>
                  <a:lnTo>
                    <a:pt x="0" y="7090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4602" r="8891" b="-127594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9525"/>
              <a:ext cx="7033368" cy="7185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@Innovathon 2026 Idea Submission- HACKLANCE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9FAA08EB-B7E0-AB58-5FE5-404016E1C7C6}"/>
              </a:ext>
            </a:extLst>
          </p:cNvPr>
          <p:cNvSpPr txBox="1"/>
          <p:nvPr/>
        </p:nvSpPr>
        <p:spPr>
          <a:xfrm>
            <a:off x="381000" y="2748172"/>
            <a:ext cx="116586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sz="3600" b="1" dirty="0"/>
              <a:t>🔹 Technologies Used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→ HTML / CSS / React 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→ Node.js 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→ SQL / Firebase 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APIs → LinkedIn /x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E7D91F6-B49E-7AE8-4FC6-40A92662AB3E}"/>
              </a:ext>
            </a:extLst>
          </p:cNvPr>
          <p:cNvSpPr txBox="1"/>
          <p:nvPr/>
        </p:nvSpPr>
        <p:spPr>
          <a:xfrm>
            <a:off x="228600" y="2287372"/>
            <a:ext cx="13487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b="1" dirty="0">
                <a:solidFill>
                  <a:srgbClr val="00B0F0"/>
                </a:solidFill>
              </a:rPr>
              <a:t>⚙️ TECHNOLOGY &amp; METHODOLOGY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53BF6A4-F06C-08FE-5EB1-94F1B9F054A4}"/>
              </a:ext>
            </a:extLst>
          </p:cNvPr>
          <p:cNvSpPr txBox="1"/>
          <p:nvPr/>
        </p:nvSpPr>
        <p:spPr>
          <a:xfrm>
            <a:off x="381000" y="5981700"/>
            <a:ext cx="13335000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Methodology (Working Flow)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enters interest, skills, budget, location 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applies a weighted scoring algorithm 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Matches user with suitable career paths 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roadmap + skills + courses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F144613-0506-4CBF-17EA-3A20C351E40D}"/>
              </a:ext>
            </a:extLst>
          </p:cNvPr>
          <p:cNvSpPr txBox="1"/>
          <p:nvPr/>
        </p:nvSpPr>
        <p:spPr>
          <a:xfrm>
            <a:off x="8768560" y="2171435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IN" sz="3600" b="1" dirty="0">
                <a:solidFill>
                  <a:srgbClr val="00B0F0"/>
                </a:solidFill>
              </a:rPr>
              <a:t>SYSTEM FLOW-&gt;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DCAABEE-F23F-3DE4-4697-521AE2A4D762}"/>
              </a:ext>
            </a:extLst>
          </p:cNvPr>
          <p:cNvSpPr txBox="1"/>
          <p:nvPr/>
        </p:nvSpPr>
        <p:spPr>
          <a:xfrm>
            <a:off x="8776187" y="3238801"/>
            <a:ext cx="9144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→ Analysis → Scoring → Recommendation → Roadmap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C1ADFE18-C183-7DFE-8602-C928EB946BC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6518" y="5178116"/>
            <a:ext cx="4969900" cy="3637544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171450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999"/>
                </a:lnSpc>
              </a:pPr>
              <a:r>
                <a:rPr lang="en-US" sz="5400" b="1">
                  <a:solidFill>
                    <a:srgbClr val="FF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CAREER PATH RECOMMENDER</a:t>
              </a:r>
            </a:p>
            <a:p>
              <a:pPr algn="ctr">
                <a:lnSpc>
                  <a:spcPts val="5999"/>
                </a:lnSpc>
              </a:pPr>
              <a:r>
                <a:rPr lang="en-US" sz="36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FOR TIER 2/3 STUDENTS</a:t>
              </a:r>
              <a:endParaRPr lang="en-US" sz="5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197623" y="1649514"/>
            <a:ext cx="8793646" cy="8151711"/>
            <a:chOff x="-2920867" y="5564138"/>
            <a:chExt cx="17740756" cy="16445683"/>
          </a:xfrm>
        </p:grpSpPr>
        <p:sp>
          <p:nvSpPr>
            <p:cNvPr id="12" name="Freeform 12"/>
            <p:cNvSpPr/>
            <p:nvPr/>
          </p:nvSpPr>
          <p:spPr>
            <a:xfrm>
              <a:off x="-2920867" y="5564138"/>
              <a:ext cx="17740756" cy="16445683"/>
            </a:xfrm>
            <a:custGeom>
              <a:avLst/>
              <a:gdLst/>
              <a:ahLst/>
              <a:cxnLst/>
              <a:rect l="l" t="t" r="r" b="b"/>
              <a:pathLst>
                <a:path w="17740756" h="16445683">
                  <a:moveTo>
                    <a:pt x="0" y="0"/>
                  </a:moveTo>
                  <a:lnTo>
                    <a:pt x="17740756" y="0"/>
                  </a:lnTo>
                  <a:lnTo>
                    <a:pt x="17740756" y="16445683"/>
                  </a:lnTo>
                  <a:lnTo>
                    <a:pt x="0" y="164456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2000"/>
              </a:blip>
              <a:stretch>
                <a:fillRect t="-3937" b="-3937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15667841" y="307000"/>
            <a:ext cx="2629684" cy="1443400"/>
            <a:chOff x="0" y="0"/>
            <a:chExt cx="4418241" cy="242511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18203" cy="2425116"/>
            </a:xfrm>
            <a:custGeom>
              <a:avLst/>
              <a:gdLst/>
              <a:ahLst/>
              <a:cxnLst/>
              <a:rect l="l" t="t" r="r" b="b"/>
              <a:pathLst>
                <a:path w="4418203" h="2425116">
                  <a:moveTo>
                    <a:pt x="0" y="0"/>
                  </a:moveTo>
                  <a:lnTo>
                    <a:pt x="4418203" y="0"/>
                  </a:lnTo>
                  <a:lnTo>
                    <a:pt x="4418203" y="2425116"/>
                  </a:lnTo>
                  <a:lnTo>
                    <a:pt x="0" y="24251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594" r="-2594"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0" y="42959"/>
            <a:ext cx="2244413" cy="2244413"/>
          </a:xfrm>
          <a:custGeom>
            <a:avLst/>
            <a:gdLst/>
            <a:ahLst/>
            <a:cxnLst/>
            <a:rect l="l" t="t" r="r" b="b"/>
            <a:pathLst>
              <a:path w="2244413" h="2244413">
                <a:moveTo>
                  <a:pt x="0" y="0"/>
                </a:moveTo>
                <a:lnTo>
                  <a:pt x="2244413" y="0"/>
                </a:lnTo>
                <a:lnTo>
                  <a:pt x="2244413" y="2244413"/>
                </a:lnTo>
                <a:lnTo>
                  <a:pt x="0" y="22444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5411863" y="9534525"/>
            <a:ext cx="7464274" cy="752475"/>
            <a:chOff x="0" y="0"/>
            <a:chExt cx="7033368" cy="70903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033367" cy="709035"/>
            </a:xfrm>
            <a:custGeom>
              <a:avLst/>
              <a:gdLst/>
              <a:ahLst/>
              <a:cxnLst/>
              <a:rect l="l" t="t" r="r" b="b"/>
              <a:pathLst>
                <a:path w="7033367" h="709035">
                  <a:moveTo>
                    <a:pt x="0" y="0"/>
                  </a:moveTo>
                  <a:lnTo>
                    <a:pt x="7033367" y="0"/>
                  </a:lnTo>
                  <a:lnTo>
                    <a:pt x="7033367" y="709035"/>
                  </a:lnTo>
                  <a:lnTo>
                    <a:pt x="0" y="7090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4602" r="8891" b="-127594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9525"/>
              <a:ext cx="7033368" cy="7185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@Innovathon 2026 Idea Submission- HACKLANCE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D0EF8317-D9BB-5147-3C86-ECA39AF333DA}"/>
              </a:ext>
            </a:extLst>
          </p:cNvPr>
          <p:cNvSpPr txBox="1"/>
          <p:nvPr/>
        </p:nvSpPr>
        <p:spPr>
          <a:xfrm>
            <a:off x="457200" y="2265317"/>
            <a:ext cx="146562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/>
              <a:t>📊 </a:t>
            </a:r>
            <a:r>
              <a:rPr lang="en-IN" sz="3600" b="1"/>
              <a:t>FEASIBILITY-&gt;</a:t>
            </a:r>
            <a:endParaRPr lang="en-IN" sz="36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37C4B35-962D-D4D6-EE17-1EF0DE64C399}"/>
              </a:ext>
            </a:extLst>
          </p:cNvPr>
          <p:cNvSpPr txBox="1"/>
          <p:nvPr/>
        </p:nvSpPr>
        <p:spPr>
          <a:xfrm>
            <a:off x="600997" y="3011921"/>
            <a:ext cx="14656209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 simple weighted scoring algorithm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need for heavy AI or expensive tools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run on a basic web application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develop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8F7451-78D0-3455-1742-A39A13BCA180}"/>
              </a:ext>
            </a:extLst>
          </p:cNvPr>
          <p:cNvSpPr txBox="1"/>
          <p:nvPr/>
        </p:nvSpPr>
        <p:spPr>
          <a:xfrm>
            <a:off x="457200" y="5600700"/>
            <a:ext cx="10371803" cy="2620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b="1" dirty="0"/>
              <a:t>🔹 Technical Viability-&gt;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using common technologies (React, Node.js)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with basic datasets (JSON/API)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integration with job platforms (Naukri, LinkedIn)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system architecture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B7BD3EF-8E36-C282-EA8A-E89833EC2D92}"/>
              </a:ext>
            </a:extLst>
          </p:cNvPr>
          <p:cNvSpPr txBox="1"/>
          <p:nvPr/>
        </p:nvSpPr>
        <p:spPr>
          <a:xfrm>
            <a:off x="8915400" y="3061037"/>
            <a:ext cx="973236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for Tier 2/3 students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with low resources (mobile + internet)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realistic and actionable guidance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expanded for schools &amp; colleges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D84A539-7F86-B73C-55B7-1A5D2988BBCA}"/>
              </a:ext>
            </a:extLst>
          </p:cNvPr>
          <p:cNvSpPr txBox="1"/>
          <p:nvPr/>
        </p:nvSpPr>
        <p:spPr>
          <a:xfrm>
            <a:off x="8784236" y="2349105"/>
            <a:ext cx="95037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Practical Viability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07FF72B3-4405-BAE5-F297-C7925E3A66C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18380" y="5063253"/>
            <a:ext cx="4252197" cy="425219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-789642" y="-952499"/>
            <a:ext cx="18287999" cy="388650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ts val="5999"/>
              </a:lnSpc>
            </a:pPr>
            <a:r>
              <a:rPr lang="en-US" sz="5400" b="1" dirty="0">
                <a:solidFill>
                  <a:srgbClr val="FF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CAREER PATH RECOMMENDER</a:t>
            </a:r>
          </a:p>
          <a:p>
            <a:pPr algn="ctr">
              <a:lnSpc>
                <a:spcPts val="5999"/>
              </a:lnSpc>
            </a:pPr>
            <a:r>
              <a:rPr lang="en-US" sz="36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FOR TIER 2/3 STUDENTS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0" y="2287372"/>
            <a:ext cx="14443710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80047" lvl="1" algn="just">
              <a:lnSpc>
                <a:spcPts val="5040"/>
              </a:lnSpc>
            </a:pPr>
            <a:r>
              <a:rPr lang="en-IN" sz="4400" b="1" dirty="0"/>
              <a:t>🌍 IMPACT ON AUDIENCE-</a:t>
            </a:r>
            <a:r>
              <a:rPr lang="en-IN" sz="4400" dirty="0"/>
              <a:t>&gt;</a:t>
            </a:r>
            <a:endParaRPr lang="en-US" sz="4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518577" y="1381547"/>
            <a:ext cx="8793646" cy="8151787"/>
            <a:chOff x="0" y="0"/>
            <a:chExt cx="17740756" cy="1644583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740756" cy="16445683"/>
            </a:xfrm>
            <a:custGeom>
              <a:avLst/>
              <a:gdLst/>
              <a:ahLst/>
              <a:cxnLst/>
              <a:rect l="l" t="t" r="r" b="b"/>
              <a:pathLst>
                <a:path w="17740756" h="16445683">
                  <a:moveTo>
                    <a:pt x="0" y="0"/>
                  </a:moveTo>
                  <a:lnTo>
                    <a:pt x="17740756" y="0"/>
                  </a:lnTo>
                  <a:lnTo>
                    <a:pt x="17740756" y="16445683"/>
                  </a:lnTo>
                  <a:lnTo>
                    <a:pt x="0" y="164456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2000"/>
              </a:blip>
              <a:stretch>
                <a:fillRect t="-3937" b="-3937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15658316" y="307000"/>
            <a:ext cx="2629684" cy="1443400"/>
            <a:chOff x="0" y="0"/>
            <a:chExt cx="4418241" cy="242511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18203" cy="2425116"/>
            </a:xfrm>
            <a:custGeom>
              <a:avLst/>
              <a:gdLst/>
              <a:ahLst/>
              <a:cxnLst/>
              <a:rect l="l" t="t" r="r" b="b"/>
              <a:pathLst>
                <a:path w="4418203" h="2425116">
                  <a:moveTo>
                    <a:pt x="0" y="0"/>
                  </a:moveTo>
                  <a:lnTo>
                    <a:pt x="4418203" y="0"/>
                  </a:lnTo>
                  <a:lnTo>
                    <a:pt x="4418203" y="2425116"/>
                  </a:lnTo>
                  <a:lnTo>
                    <a:pt x="0" y="24251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594" r="-2594"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0" y="42959"/>
            <a:ext cx="2244413" cy="2244413"/>
          </a:xfrm>
          <a:custGeom>
            <a:avLst/>
            <a:gdLst/>
            <a:ahLst/>
            <a:cxnLst/>
            <a:rect l="l" t="t" r="r" b="b"/>
            <a:pathLst>
              <a:path w="2244413" h="2244413">
                <a:moveTo>
                  <a:pt x="0" y="0"/>
                </a:moveTo>
                <a:lnTo>
                  <a:pt x="2244413" y="0"/>
                </a:lnTo>
                <a:lnTo>
                  <a:pt x="2244413" y="2244413"/>
                </a:lnTo>
                <a:lnTo>
                  <a:pt x="0" y="22444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5411863" y="9534525"/>
            <a:ext cx="7464274" cy="752475"/>
            <a:chOff x="0" y="0"/>
            <a:chExt cx="7033368" cy="70903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033367" cy="709035"/>
            </a:xfrm>
            <a:custGeom>
              <a:avLst/>
              <a:gdLst/>
              <a:ahLst/>
              <a:cxnLst/>
              <a:rect l="l" t="t" r="r" b="b"/>
              <a:pathLst>
                <a:path w="7033367" h="709035">
                  <a:moveTo>
                    <a:pt x="0" y="0"/>
                  </a:moveTo>
                  <a:lnTo>
                    <a:pt x="7033367" y="0"/>
                  </a:lnTo>
                  <a:lnTo>
                    <a:pt x="7033367" y="709035"/>
                  </a:lnTo>
                  <a:lnTo>
                    <a:pt x="0" y="7090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4602" r="8891" b="-127594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9525"/>
              <a:ext cx="7033368" cy="7185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@Innovathon 2026 Idea Submission- HACKLANCE</a:t>
              </a:r>
            </a:p>
          </p:txBody>
        </p:sp>
      </p:grpSp>
      <p:sp>
        <p:nvSpPr>
          <p:cNvPr id="21" name="Rectangle 3">
            <a:extLst>
              <a:ext uri="{FF2B5EF4-FFF2-40B4-BE49-F238E27FC236}">
                <a16:creationId xmlns:a16="http://schemas.microsoft.com/office/drawing/2014/main" id="{BE735269-0FAE-4760-0156-FE7FE3697A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532955"/>
            <a:ext cx="1280160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Tier 2/3 students make better career decisions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clear direction and guidance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Reduces confusion and misinformation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Increases awareness of career opportunities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2409755-4CFE-6A58-E662-666BEE4A70C4}"/>
              </a:ext>
            </a:extLst>
          </p:cNvPr>
          <p:cNvSpPr txBox="1"/>
          <p:nvPr/>
        </p:nvSpPr>
        <p:spPr>
          <a:xfrm>
            <a:off x="304800" y="5065425"/>
            <a:ext cx="96946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💰 </a:t>
            </a:r>
            <a:r>
              <a:rPr lang="en-IN" sz="3600" b="1" dirty="0"/>
              <a:t>ECONOMIC BENEFITS-&gt;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BEE279B-4324-F3F6-AE50-13CBE5AA5786}"/>
              </a:ext>
            </a:extLst>
          </p:cNvPr>
          <p:cNvSpPr txBox="1"/>
          <p:nvPr/>
        </p:nvSpPr>
        <p:spPr>
          <a:xfrm>
            <a:off x="341076" y="5699839"/>
            <a:ext cx="987816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Encourages skill-based learning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structured learning roadmap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Bridges the gap between education and industry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9DB1C01-2229-37FE-2949-E27D6B8AC123}"/>
              </a:ext>
            </a:extLst>
          </p:cNvPr>
          <p:cNvSpPr txBox="1"/>
          <p:nvPr/>
        </p:nvSpPr>
        <p:spPr>
          <a:xfrm>
            <a:off x="8770375" y="7342236"/>
            <a:ext cx="95422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🎓 </a:t>
            </a:r>
            <a:r>
              <a:rPr lang="en-IN" sz="3600" b="1" dirty="0"/>
              <a:t>EDUCATIONAL BENEFITS-</a:t>
            </a:r>
            <a:r>
              <a:rPr lang="en-IN" sz="3600" dirty="0"/>
              <a:t>&gt;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95E9438-5EC2-B264-F5A2-ACC78CB8C8C6}"/>
              </a:ext>
            </a:extLst>
          </p:cNvPr>
          <p:cNvSpPr txBox="1"/>
          <p:nvPr/>
        </p:nvSpPr>
        <p:spPr>
          <a:xfrm>
            <a:off x="9066306" y="7928557"/>
            <a:ext cx="962332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Encourages skill-based learning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structured learning roadmap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C725702-5E1C-C2DC-2CF7-AF0557071643}"/>
              </a:ext>
            </a:extLst>
          </p:cNvPr>
          <p:cNvSpPr txBox="1"/>
          <p:nvPr/>
        </p:nvSpPr>
        <p:spPr>
          <a:xfrm>
            <a:off x="309121" y="7342417"/>
            <a:ext cx="984454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/>
              <a:t>Social Benefits-&gt;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dirty="0"/>
              <a:t>Promotes equal career opportunities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dirty="0"/>
              <a:t>Reduces dependency on costly counsellors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7AD2BD36-F136-EA12-3DF8-0D5991131C5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31358" y="1894227"/>
            <a:ext cx="4613588" cy="459855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876300"/>
            <a:ext cx="16459200" cy="100965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dirty="0">
                  <a:solidFill>
                    <a:srgbClr val="FF0000"/>
                  </a:solidFill>
                </a:rPr>
                <a:t>CAREER PATH RECOMMENDER</a:t>
              </a:r>
            </a:p>
            <a:p>
              <a:pPr algn="ctr">
                <a:lnSpc>
                  <a:spcPts val="6480"/>
                </a:lnSpc>
              </a:pPr>
              <a:r>
                <a:rPr lang="en-US" sz="4000" dirty="0"/>
                <a:t> for Tier 2/3 Students</a:t>
              </a:r>
              <a:endParaRPr lang="en-US" sz="4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  <a:p>
              <a:pPr algn="ctr">
                <a:lnSpc>
                  <a:spcPts val="6480"/>
                </a:lnSpc>
              </a:pPr>
              <a:endParaRPr lang="en-US" sz="5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166187" y="1374814"/>
            <a:ext cx="8793646" cy="8151787"/>
            <a:chOff x="0" y="0"/>
            <a:chExt cx="17740756" cy="1644583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740756" cy="16445683"/>
            </a:xfrm>
            <a:custGeom>
              <a:avLst/>
              <a:gdLst/>
              <a:ahLst/>
              <a:cxnLst/>
              <a:rect l="l" t="t" r="r" b="b"/>
              <a:pathLst>
                <a:path w="17740756" h="16445683">
                  <a:moveTo>
                    <a:pt x="0" y="0"/>
                  </a:moveTo>
                  <a:lnTo>
                    <a:pt x="17740756" y="0"/>
                  </a:lnTo>
                  <a:lnTo>
                    <a:pt x="17740756" y="16445683"/>
                  </a:lnTo>
                  <a:lnTo>
                    <a:pt x="0" y="164456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2000"/>
              </a:blip>
              <a:stretch>
                <a:fillRect t="-3937" b="-3937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15658316" y="307000"/>
            <a:ext cx="2629684" cy="1443400"/>
            <a:chOff x="0" y="0"/>
            <a:chExt cx="4418241" cy="242511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18203" cy="2425116"/>
            </a:xfrm>
            <a:custGeom>
              <a:avLst/>
              <a:gdLst/>
              <a:ahLst/>
              <a:cxnLst/>
              <a:rect l="l" t="t" r="r" b="b"/>
              <a:pathLst>
                <a:path w="4418203" h="2425116">
                  <a:moveTo>
                    <a:pt x="0" y="0"/>
                  </a:moveTo>
                  <a:lnTo>
                    <a:pt x="4418203" y="0"/>
                  </a:lnTo>
                  <a:lnTo>
                    <a:pt x="4418203" y="2425116"/>
                  </a:lnTo>
                  <a:lnTo>
                    <a:pt x="0" y="24251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594" r="-2594"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0" y="42959"/>
            <a:ext cx="2244413" cy="2244413"/>
          </a:xfrm>
          <a:custGeom>
            <a:avLst/>
            <a:gdLst/>
            <a:ahLst/>
            <a:cxnLst/>
            <a:rect l="l" t="t" r="r" b="b"/>
            <a:pathLst>
              <a:path w="2244413" h="2244413">
                <a:moveTo>
                  <a:pt x="0" y="0"/>
                </a:moveTo>
                <a:lnTo>
                  <a:pt x="2244413" y="0"/>
                </a:lnTo>
                <a:lnTo>
                  <a:pt x="2244413" y="2244413"/>
                </a:lnTo>
                <a:lnTo>
                  <a:pt x="0" y="22444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5411863" y="9534525"/>
            <a:ext cx="7464274" cy="752475"/>
            <a:chOff x="0" y="0"/>
            <a:chExt cx="7033368" cy="70903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033367" cy="709035"/>
            </a:xfrm>
            <a:custGeom>
              <a:avLst/>
              <a:gdLst/>
              <a:ahLst/>
              <a:cxnLst/>
              <a:rect l="l" t="t" r="r" b="b"/>
              <a:pathLst>
                <a:path w="7033367" h="709035">
                  <a:moveTo>
                    <a:pt x="0" y="0"/>
                  </a:moveTo>
                  <a:lnTo>
                    <a:pt x="7033367" y="0"/>
                  </a:lnTo>
                  <a:lnTo>
                    <a:pt x="7033367" y="709035"/>
                  </a:lnTo>
                  <a:lnTo>
                    <a:pt x="0" y="7090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4602" r="8891" b="-127594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9525"/>
              <a:ext cx="7033368" cy="7185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@Innovathon 2026 Idea Submission- HACKLANCE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67E105C5-EE43-CE9D-2F7A-FAEFA173930C}"/>
              </a:ext>
            </a:extLst>
          </p:cNvPr>
          <p:cNvSpPr txBox="1"/>
          <p:nvPr/>
        </p:nvSpPr>
        <p:spPr>
          <a:xfrm>
            <a:off x="76200" y="2163368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📚 REFERENCES &amp; RESEARCH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87CB6BE-1EF8-C29E-86D6-13EE71CA0EF6}"/>
              </a:ext>
            </a:extLst>
          </p:cNvPr>
          <p:cNvSpPr txBox="1"/>
          <p:nvPr/>
        </p:nvSpPr>
        <p:spPr>
          <a:xfrm>
            <a:off x="457200" y="3108092"/>
            <a:ext cx="91440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Sources -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Naukri.com (job trends &amp; roles)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LinkedIn (career insights &amp; skills demand)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reports (employment data)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9AB73BB-2EE2-C661-5A07-2C1422660BAC}"/>
              </a:ext>
            </a:extLst>
          </p:cNvPr>
          <p:cNvSpPr txBox="1"/>
          <p:nvPr/>
        </p:nvSpPr>
        <p:spPr>
          <a:xfrm>
            <a:off x="457199" y="5499533"/>
            <a:ext cx="9121877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Learning Platforms-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Coursera (free/online courses)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YouTube (skill-based tutorials)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Kaggle (data &amp; practice resources)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9796120-D033-E926-545C-47EE07262620}"/>
              </a:ext>
            </a:extLst>
          </p:cNvPr>
          <p:cNvSpPr txBox="1"/>
          <p:nvPr/>
        </p:nvSpPr>
        <p:spPr>
          <a:xfrm>
            <a:off x="363794" y="7724759"/>
            <a:ext cx="920299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/>
              <a:t> Additional Sources-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articles &amp; blogs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Career guidance websites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73EEF38-97B1-942B-4605-FEE2728952E9}"/>
              </a:ext>
            </a:extLst>
          </p:cNvPr>
          <p:cNvSpPr txBox="1"/>
          <p:nvPr/>
        </p:nvSpPr>
        <p:spPr>
          <a:xfrm>
            <a:off x="9829800" y="7147322"/>
            <a:ext cx="9202992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Research Basis-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job market trends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of in-demand skills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Tier 2/3 student challenges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9500B211-CC8C-D900-0132-8A1E959EC0B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00677" y="1499472"/>
            <a:ext cx="5036080" cy="5036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541</Words>
  <Application>Microsoft Office PowerPoint</Application>
  <PresentationFormat>Custom</PresentationFormat>
  <Paragraphs>121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Arimo</vt:lpstr>
      <vt:lpstr>Arial Bold</vt:lpstr>
      <vt:lpstr>Times New Roman</vt:lpstr>
      <vt:lpstr>Garamond Bold</vt:lpstr>
      <vt:lpstr>Wingdings</vt:lpstr>
      <vt:lpstr>Calibri</vt:lpstr>
      <vt:lpstr>Times New Roman Bold</vt:lpstr>
      <vt:lpstr>Arial</vt:lpstr>
      <vt:lpstr>Arimo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Innovathon_2026_PPT_Sample.pptx</dc:title>
  <cp:lastModifiedBy>Bandhan singh</cp:lastModifiedBy>
  <cp:revision>2</cp:revision>
  <dcterms:created xsi:type="dcterms:W3CDTF">2006-08-16T00:00:00Z</dcterms:created>
  <dcterms:modified xsi:type="dcterms:W3CDTF">2026-04-16T09:48:51Z</dcterms:modified>
  <dc:identifier>DAHGtPPAptw</dc:identifier>
</cp:coreProperties>
</file>